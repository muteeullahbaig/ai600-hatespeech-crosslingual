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Cross-Lingual Hate Speech Detection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11480" y="19659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to Nastaliq Urdu Transfer Learning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2670048"/>
            <a:ext cx="832104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8346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Muteeullah Baig  ·  Rana Muhammad Hamza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3246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AI-600 Deep Learning  ·  LUMS Spring 2026  ·  Project 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452628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Cross-Lingual Hate Speech Detection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/ 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3931920" cy="1234440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8686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Nastaliq Urdu?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216152"/>
            <a:ext cx="35661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Arabic-script Urdu spoken by 230M people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ISE-Hate: first large annotated Urdu hate corpus (21,759 tweets)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Nastaliq in XLM-R's 100-language pre-training; Roman Urdu is not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0" y="822960"/>
            <a:ext cx="4480560" cy="1234440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8686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Overview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0" y="1216152"/>
            <a:ext cx="41605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multilingual transformers on English hate speech data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zero-shot &amp; few-shot transfer to Nastaliq Urdu (ISE-Hate)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neural cross-lingual transfer vs. classical ML baselines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240280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24028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60120" y="2240280"/>
            <a:ext cx="7909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model capacity (mBERT → XLM-R-large) affect EN performance and Urdu zero-shot transfer?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880360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88036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60120" y="2880360"/>
            <a:ext cx="7909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zero-shot failure due to class-imbalance prior or true domain gap?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520440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52044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60120" y="3520440"/>
            <a:ext cx="7909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K-shot examples enable stable few-shot transfer to Nastaliq Urdu?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4160520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16052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60120" y="4160520"/>
            <a:ext cx="7909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model show differential FPR across hate sub-categories (Level-2 fairness)?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AI-600  ·  Cross-Lingual Hate Speech Detection  ·  LUMS Spring 2026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/ 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393192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046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 ·  English (Davidson et al. 2017)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480560" y="804672"/>
            <a:ext cx="438912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80467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 ·  ISE-Hate (Akram et al. 2023, Nastaliq Urdu)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1188720"/>
            <a:ext cx="3931920" cy="2560320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234440"/>
            <a:ext cx="3840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252728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83080" y="1252728"/>
            <a:ext cx="2331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 / X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1572768"/>
            <a:ext cx="3840480" cy="320040"/>
          </a:xfrm>
          <a:prstGeom prst="rect">
            <a:avLst/>
          </a:prstGeom>
          <a:solidFill>
            <a:srgbClr val="F0F9FF"/>
          </a:solidFill>
          <a:ln w="12700">
            <a:solidFill>
              <a:srgbClr val="F0F9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591056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83080" y="1591056"/>
            <a:ext cx="2331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19,826 samples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1911096"/>
            <a:ext cx="3840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929384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783080" y="1929384"/>
            <a:ext cx="2331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2,477 samples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249424"/>
            <a:ext cx="3840480" cy="320040"/>
          </a:xfrm>
          <a:prstGeom prst="rect">
            <a:avLst/>
          </a:prstGeom>
          <a:solidFill>
            <a:srgbClr val="F0F9FF"/>
          </a:solidFill>
          <a:ln w="12700">
            <a:solidFill>
              <a:srgbClr val="F0F9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267712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783080" y="2267712"/>
            <a:ext cx="2331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2,477 samples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2587752"/>
            <a:ext cx="3840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606040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Hate 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783080" y="2606040"/>
            <a:ext cx="2331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5.2%  (severely imbalanced)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2926080"/>
            <a:ext cx="3840480" cy="320040"/>
          </a:xfrm>
          <a:prstGeom prst="rect">
            <a:avLst/>
          </a:prstGeom>
          <a:solidFill>
            <a:srgbClr val="F0F9FF"/>
          </a:solidFill>
          <a:ln w="12700">
            <a:solidFill>
              <a:srgbClr val="F0F9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944368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783080" y="2944368"/>
            <a:ext cx="2331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Binarised: hate vs. non-hate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3264408"/>
            <a:ext cx="3840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82696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783080" y="3282696"/>
            <a:ext cx="2331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tdavidson/hate_speech_offensive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480560" y="1188720"/>
            <a:ext cx="4389120" cy="2560320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26280" y="1234440"/>
            <a:ext cx="42976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0" y="1252728"/>
            <a:ext cx="1508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26480" y="1252728"/>
            <a:ext cx="2651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 / X (Nastaliq script)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26280" y="1572768"/>
            <a:ext cx="4297680" cy="320040"/>
          </a:xfrm>
          <a:prstGeom prst="rect">
            <a:avLst/>
          </a:prstGeom>
          <a:solidFill>
            <a:srgbClr val="F0F9FF"/>
          </a:solidFill>
          <a:ln w="12700">
            <a:solidFill>
              <a:srgbClr val="F0F9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0" y="1591056"/>
            <a:ext cx="1508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26480" y="1591056"/>
            <a:ext cx="2651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15,231 samples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26280" y="1911096"/>
            <a:ext cx="42976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0" y="1929384"/>
            <a:ext cx="1508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26480" y="1929384"/>
            <a:ext cx="2651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2,176 samples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26280" y="2249424"/>
            <a:ext cx="4297680" cy="320040"/>
          </a:xfrm>
          <a:prstGeom prst="rect">
            <a:avLst/>
          </a:prstGeom>
          <a:solidFill>
            <a:srgbClr val="F0F9FF"/>
          </a:solidFill>
          <a:ln w="12700">
            <a:solidFill>
              <a:srgbClr val="F0F9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0" y="2267712"/>
            <a:ext cx="1508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126480" y="2267712"/>
            <a:ext cx="2651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4,352 samples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26280" y="2587752"/>
            <a:ext cx="42976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0" y="2606040"/>
            <a:ext cx="1508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Hate %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126480" y="2606040"/>
            <a:ext cx="2651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39.8%  (more balanced)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26280" y="2926080"/>
            <a:ext cx="4297680" cy="320040"/>
          </a:xfrm>
          <a:prstGeom prst="rect">
            <a:avLst/>
          </a:prstGeom>
          <a:solidFill>
            <a:srgbClr val="F0F9FF"/>
          </a:solidFill>
          <a:ln w="12700">
            <a:solidFill>
              <a:srgbClr val="F0F9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0" y="2944368"/>
            <a:ext cx="1508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Cohen's κ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126480" y="2944368"/>
            <a:ext cx="2651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  (substantial agreement)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526280" y="3264408"/>
            <a:ext cx="42976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0" y="3282696"/>
            <a:ext cx="1508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Level-2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126480" y="3282696"/>
            <a:ext cx="2651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Interfaith / Sectarian / Ethnic / Other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74320" y="3840480"/>
            <a:ext cx="8595360" cy="658368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3895344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challenge: EN training data is 94.8% non-hate — the model learns a strong non-hate prior that dominates zero-shot Urdu inference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AI-600  ·  Cross-Lingual Hate Speech Detection  ·  LUMS Spring 2026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/ 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2743200" cy="86868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8229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mBERT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16128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179M params · 12 layers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13716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804672"/>
            <a:ext cx="274320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8229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XLM-R-base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0" y="116128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278M params · 12 layers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91840" y="13716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26480" y="804672"/>
            <a:ext cx="2743200" cy="868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8229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XLM-R-large ★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116128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560M params · 24 layers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217920" y="13716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4320" y="177393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Protocols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2121408"/>
            <a:ext cx="8595360" cy="603504"/>
          </a:xfrm>
          <a:prstGeom prst="rect">
            <a:avLst/>
          </a:prstGeom>
          <a:solidFill>
            <a:srgbClr val="E0F2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2212848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215798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241401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checkpoint evaluated directly on Urdu. No Urdu labels at inference time.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biased to predict non-hate (94.8% EN prior) → low recall (0.080), not low precision (0.885).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2779776"/>
            <a:ext cx="85953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" y="2871216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2871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" y="28163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(K = 8 / 16 / 32 / 64)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" y="307238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Urdu samples added to fine-tuning. Class weights [1.0, 2.5] for Urdu's 40% hate rate.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Monotonic improvement K=8 (hate F1=0.590) → K=64 (0.694). No collapse on Nastaliq script.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3438144"/>
            <a:ext cx="8595360" cy="603504"/>
          </a:xfrm>
          <a:prstGeom prst="rect">
            <a:avLst/>
          </a:prstGeom>
          <a:solidFill>
            <a:srgbClr val="E0F2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" y="3529584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3529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2960" y="34747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 (TF-IDF + LR / RF)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2960" y="373075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Unigram+bigram TF-IDF (50K features) + Logistic Regression / Random Forest.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FuzzyWuzzy lexicon provides zero benefit: Latin lexicon vs Arabic-script Nastaliq = script mismatch.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4096512"/>
            <a:ext cx="85953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7472" y="4187952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4187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2960" y="41330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Fine-Tuning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22960" y="43891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XLM-R-large fine-tuned on full ISE-Hate train set (15,231 samples). Starts from EN checkpoint.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Achieves hate F1 = 0.796 — upper bound, modest +0.049 over TF-IDF+LR at higher FPR cost.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AI-600  ·  Cross-Lingual Hate Speech Detection  ·  LUMS Spring 2026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Comparison with Baselines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/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ISE-Hate Test Set  ·  4,352 Nastaliq Urdu samples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320040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" y="1097280"/>
            <a:ext cx="3163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74720" y="1097280"/>
            <a:ext cx="64008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11296" y="1097280"/>
            <a:ext cx="603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0" y="1097280"/>
            <a:ext cx="118872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51376" y="109728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Hate F1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303520" y="1097280"/>
            <a:ext cx="118872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40096" y="109728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92240" y="1097280"/>
            <a:ext cx="100584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28816" y="1097280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1463040"/>
            <a:ext cx="32004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" y="1481328"/>
            <a:ext cx="31455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(XLM-R-large)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0" y="1463040"/>
            <a:ext cx="6400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29584" y="1481328"/>
            <a:ext cx="5852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0" y="1463040"/>
            <a:ext cx="11887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69664" y="1481328"/>
            <a:ext cx="11338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0.147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303520" y="1463040"/>
            <a:ext cx="11887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58384" y="1481328"/>
            <a:ext cx="11338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0.462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92240" y="1463040"/>
            <a:ext cx="10058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47104" y="1481328"/>
            <a:ext cx="9509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1801368"/>
            <a:ext cx="3200400" cy="32004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" y="1819656"/>
            <a:ext cx="31455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K=8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74720" y="1801368"/>
            <a:ext cx="640080" cy="32004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29584" y="1819656"/>
            <a:ext cx="5852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0" y="1801368"/>
            <a:ext cx="1188720" cy="32004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69664" y="1819656"/>
            <a:ext cx="11338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0.590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303520" y="1801368"/>
            <a:ext cx="1188720" cy="32004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58384" y="1819656"/>
            <a:ext cx="11338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92240" y="1801368"/>
            <a:ext cx="1005840" cy="32004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47104" y="1819656"/>
            <a:ext cx="9509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0.264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2139696"/>
            <a:ext cx="32004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9184" y="2157984"/>
            <a:ext cx="31455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K=16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474720" y="2139696"/>
            <a:ext cx="6400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29584" y="2157984"/>
            <a:ext cx="5852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114800" y="2139696"/>
            <a:ext cx="11887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69664" y="2157984"/>
            <a:ext cx="11338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0.619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303520" y="2139696"/>
            <a:ext cx="11887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58384" y="2157984"/>
            <a:ext cx="11338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0.652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492240" y="2139696"/>
            <a:ext cx="10058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47104" y="2157984"/>
            <a:ext cx="9509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0.252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74320" y="2478024"/>
            <a:ext cx="3200400" cy="32004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9184" y="2496312"/>
            <a:ext cx="31455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K=32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474720" y="2478024"/>
            <a:ext cx="640080" cy="32004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529584" y="2496312"/>
            <a:ext cx="5852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114800" y="2478024"/>
            <a:ext cx="1188720" cy="32004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69664" y="2496312"/>
            <a:ext cx="11338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0.649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303520" y="2478024"/>
            <a:ext cx="1188720" cy="32004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358384" y="2496312"/>
            <a:ext cx="11338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0.676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492240" y="2478024"/>
            <a:ext cx="1005840" cy="32004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47104" y="2496312"/>
            <a:ext cx="9509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0.230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74320" y="2816352"/>
            <a:ext cx="32004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9184" y="2834640"/>
            <a:ext cx="31455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K=64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474720" y="2816352"/>
            <a:ext cx="6400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529584" y="2834640"/>
            <a:ext cx="5852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114800" y="2816352"/>
            <a:ext cx="11887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69664" y="2834640"/>
            <a:ext cx="11338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0.694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303520" y="2816352"/>
            <a:ext cx="11887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358384" y="2834640"/>
            <a:ext cx="11338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0.719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492240" y="2816352"/>
            <a:ext cx="10058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547104" y="2834640"/>
            <a:ext cx="9509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0.205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274320" y="3154680"/>
            <a:ext cx="3200400" cy="32004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29184" y="3172968"/>
            <a:ext cx="31455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LR (classical)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474720" y="3154680"/>
            <a:ext cx="640080" cy="32004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529584" y="3172968"/>
            <a:ext cx="5852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114800" y="3154680"/>
            <a:ext cx="1188720" cy="32004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169664" y="3172968"/>
            <a:ext cx="11338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0.747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5303520" y="3154680"/>
            <a:ext cx="1188720" cy="32004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358384" y="3172968"/>
            <a:ext cx="11338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0.753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6492240" y="3154680"/>
            <a:ext cx="1005840" cy="32004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47104" y="3172968"/>
            <a:ext cx="9509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0.154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274320" y="3493008"/>
            <a:ext cx="3200400" cy="320040"/>
          </a:xfrm>
          <a:prstGeom prst="rect">
            <a:avLst/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29184" y="3511296"/>
            <a:ext cx="31455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XLM-R-large (supervised)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3474720" y="3493008"/>
            <a:ext cx="640080" cy="320040"/>
          </a:xfrm>
          <a:prstGeom prst="rect">
            <a:avLst/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529584" y="3511296"/>
            <a:ext cx="5852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4114800" y="3493008"/>
            <a:ext cx="1188720" cy="320040"/>
          </a:xfrm>
          <a:prstGeom prst="rect">
            <a:avLst/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169664" y="3511296"/>
            <a:ext cx="11338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0.796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5303520" y="3493008"/>
            <a:ext cx="1188720" cy="320040"/>
          </a:xfrm>
          <a:prstGeom prst="rect">
            <a:avLst/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358384" y="3511296"/>
            <a:ext cx="11338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0.816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6492240" y="3493008"/>
            <a:ext cx="1005840" cy="320040"/>
          </a:xfrm>
          <a:prstGeom prst="rect">
            <a:avLst/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547104" y="3511296"/>
            <a:ext cx="9509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0.228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274320" y="3913632"/>
            <a:ext cx="2743200" cy="868680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87" name="Text 85"/>
          <p:cNvSpPr/>
          <p:nvPr/>
        </p:nvSpPr>
        <p:spPr>
          <a:xfrm>
            <a:off x="320040" y="3931920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0.147</a:t>
            </a:r>
            <a:endParaRPr lang="en-US" sz="3000" dirty="0"/>
          </a:p>
        </p:txBody>
      </p:sp>
      <p:sp>
        <p:nvSpPr>
          <p:cNvPr id="88" name="Text 86"/>
          <p:cNvSpPr/>
          <p:nvPr/>
        </p:nvSpPr>
        <p:spPr>
          <a:xfrm>
            <a:off x="1280160" y="395020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Hate F1</a:t>
            </a:r>
            <a:endParaRPr lang="en-US" sz="950" dirty="0"/>
          </a:p>
        </p:txBody>
      </p:sp>
      <p:sp>
        <p:nvSpPr>
          <p:cNvPr id="89" name="Text 87"/>
          <p:cNvSpPr/>
          <p:nvPr/>
        </p:nvSpPr>
        <p:spPr>
          <a:xfrm>
            <a:off x="1280160" y="435254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recall failure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3246120" y="3913632"/>
            <a:ext cx="2743200" cy="868680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91" name="Text 89"/>
          <p:cNvSpPr/>
          <p:nvPr/>
        </p:nvSpPr>
        <p:spPr>
          <a:xfrm>
            <a:off x="3291840" y="3931920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0.747</a:t>
            </a:r>
            <a:endParaRPr lang="en-US" sz="3000" dirty="0"/>
          </a:p>
        </p:txBody>
      </p:sp>
      <p:sp>
        <p:nvSpPr>
          <p:cNvPr id="92" name="Text 90"/>
          <p:cNvSpPr/>
          <p:nvPr/>
        </p:nvSpPr>
        <p:spPr>
          <a:xfrm>
            <a:off x="4251960" y="395020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TF-IDF+LR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Hate F1</a:t>
            </a:r>
            <a:endParaRPr lang="en-US" sz="950" dirty="0"/>
          </a:p>
        </p:txBody>
      </p:sp>
      <p:sp>
        <p:nvSpPr>
          <p:cNvPr id="93" name="Text 91"/>
          <p:cNvSpPr/>
          <p:nvPr/>
        </p:nvSpPr>
        <p:spPr>
          <a:xfrm>
            <a:off x="4251960" y="435254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 all few-shot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6217920" y="3913632"/>
            <a:ext cx="2743200" cy="868680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95" name="Text 93"/>
          <p:cNvSpPr/>
          <p:nvPr/>
        </p:nvSpPr>
        <p:spPr>
          <a:xfrm>
            <a:off x="6263640" y="3931920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0.796</a:t>
            </a:r>
            <a:endParaRPr lang="en-US" sz="3000" dirty="0"/>
          </a:p>
        </p:txBody>
      </p:sp>
      <p:sp>
        <p:nvSpPr>
          <p:cNvPr id="96" name="Text 94"/>
          <p:cNvSpPr/>
          <p:nvPr/>
        </p:nvSpPr>
        <p:spPr>
          <a:xfrm>
            <a:off x="7223760" y="395020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Hate F1</a:t>
            </a:r>
            <a:endParaRPr lang="en-US" sz="950" dirty="0"/>
          </a:p>
        </p:txBody>
      </p:sp>
      <p:sp>
        <p:nvSpPr>
          <p:cNvPr id="97" name="Text 95"/>
          <p:cNvSpPr/>
          <p:nvPr/>
        </p:nvSpPr>
        <p:spPr>
          <a:xfrm>
            <a:off x="7223760" y="435254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best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AI-600  ·  Cross-Lingual Hate Speech Detection  ·  LUMS Spring 2026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0" y="1371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/ 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47472" y="822960"/>
            <a:ext cx="8503920" cy="749808"/>
          </a:xfrm>
          <a:prstGeom prst="rect">
            <a:avLst/>
          </a:prstGeom>
          <a:solidFill>
            <a:srgbClr val="0C3D5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960120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960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32688" y="868680"/>
            <a:ext cx="7827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fails due to class-imbalance prior — not domain gap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2688" y="1170432"/>
            <a:ext cx="7827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training: 94.8% non-hate → strong non-hate prior. Recall=0.080, Precision=0.885 at zero-shot. XLM-R-large is BEST at zero-shot (hate F1=0.147) — larger models transfer better.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7472" y="1664208"/>
            <a:ext cx="8503920" cy="749808"/>
          </a:xfrm>
          <a:prstGeom prst="rect">
            <a:avLst/>
          </a:prstGeom>
          <a:solidFill>
            <a:srgbClr val="0C3D5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" y="1801368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32688" y="1709928"/>
            <a:ext cx="7827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transfer is stable and monotonically improving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32688" y="2011680"/>
            <a:ext cx="7827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Hate F1 rises K=8 (0.590) → K=16 (0.619) → K=32 (0.649) → K=64 (0.694). No collapse on Nastaliq Urdu. Class weights [1.0, 2.5] calibrated to Urdu's 40% hate rate.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" y="2505456"/>
            <a:ext cx="8503920" cy="749808"/>
          </a:xfrm>
          <a:prstGeom prst="rect">
            <a:avLst/>
          </a:prstGeom>
          <a:solidFill>
            <a:srgbClr val="0C3D5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" y="2642616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642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32688" y="2551176"/>
            <a:ext cx="7827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 beats all few-shot neural methods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32688" y="2852928"/>
            <a:ext cx="7827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TF-IDF+LR on full data: hate F1=0.747. FuzzyWuzzy adds zero benefit — Latin lexicon vs. Arabic-script Nastaliq is a script mismatch. Random Forest achieves lowest FPR (0.056).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47472" y="3346704"/>
            <a:ext cx="8503920" cy="749808"/>
          </a:xfrm>
          <a:prstGeom prst="rect">
            <a:avLst/>
          </a:prstGeom>
          <a:solidFill>
            <a:srgbClr val="0C3D5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" y="3483864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483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32688" y="3392424"/>
            <a:ext cx="7827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XLM-R-large: strong performance, high FPR cost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32688" y="3694176"/>
            <a:ext cx="7827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Hate F1=0.796 (+0.049 over TF-IDF+LR) but FPR rises 0.154→0.228. Dominant signal is lexical (TF-IDF+LR nearly matches at 560× less compute). Modest gain may not justify cost.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47472" y="4187952"/>
            <a:ext cx="8503920" cy="749808"/>
          </a:xfrm>
          <a:prstGeom prst="rect">
            <a:avLst/>
          </a:prstGeom>
          <a:solidFill>
            <a:srgbClr val="0C3D5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912" y="4325112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4325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32688" y="4233672"/>
            <a:ext cx="7827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20× Level-2 fairness disparity at zero-shot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32688" y="4535424"/>
            <a:ext cx="7827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Interfaith hate recall=28.2% vs. Other recall=1.4%. Annotator bias from Davidson AMT workers baked into EN weights — fires on English-pattern hate, blind to native Urdu idiom hate.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47472" y="5010912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github.com/MuteeullahBaig/AI600-HateSpeech-CrossLingual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Cross-Lingual Hate Speech Detection</dc:title>
  <dc:subject>PptxGenJS Presentation</dc:subject>
  <dc:creator>Muteeullah Baig, Rana Muhammad Hamza</dc:creator>
  <cp:lastModifiedBy>Muteeullah Baig, Rana Muhammad Hamza</cp:lastModifiedBy>
  <cp:revision>1</cp:revision>
  <dcterms:created xsi:type="dcterms:W3CDTF">2026-05-24T19:12:29Z</dcterms:created>
  <dcterms:modified xsi:type="dcterms:W3CDTF">2026-05-24T19:12:29Z</dcterms:modified>
</cp:coreProperties>
</file>